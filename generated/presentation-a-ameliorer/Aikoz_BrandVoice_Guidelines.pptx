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PP Radio Grotesk"/>
              </a:rPr>
              <a:t>Brand Voice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1907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06624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PP Radio Grotesk"/>
              </a:rPr>
              <a:t>La voix qui transforme la donnée en 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FFD4"/>
                </a:solidFill>
                <a:latin typeface="PP Radio Grotesk"/>
              </a:rPr>
              <a:t>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0FFD4"/>
                </a:solidFill>
                <a:latin typeface="PP Radio Grotesk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058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FFD4"/>
                </a:solidFill>
                <a:latin typeface="PP Radio Grotes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P Radio Grotesk"/>
              </a:rPr>
              <a:t>Identité de Marque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64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FFD4"/>
                </a:solidFill>
                <a:latin typeface="PP Radio Grotes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P Radio Grotesk"/>
              </a:rPr>
              <a:t>Voix de Marque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2257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FFD4"/>
                </a:solidFill>
                <a:latin typeface="PP Radio Grotes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225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P Radio Grotesk"/>
              </a:rPr>
              <a:t>Règles d'Écriture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8094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FFD4"/>
                </a:solidFill>
                <a:latin typeface="PP Radio Grotes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809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P Radio Grotesk"/>
              </a:rPr>
              <a:t>Terminologie Aikoz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393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FFD4"/>
                </a:solidFill>
                <a:latin typeface="PP Radio Grotes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39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P Radio Grotesk"/>
              </a:rPr>
              <a:t>Formats &amp; Exemples Sectoriels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70FFD4"/>
                </a:solidFill>
                <a:latin typeface="PP Radio Grotes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651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P Radio Grotesk"/>
              </a:rPr>
              <a:t>Identité de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1.1 – Mission &amp;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Qui est Aikoz, pour qui, pourquoi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FFD4"/>
                </a:solidFill>
                <a:latin typeface="PP Radio Grotesk"/>
              </a:rPr>
              <a:t>TAGLINE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2529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1A1A2E"/>
                </a:solidFill>
                <a:latin typeface="PP Radio Grotesk Bold"/>
              </a:rPr>
              <a:t>« Quand les données rencontrent l'innovation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8379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FFD4"/>
                </a:solidFill>
                <a:latin typeface="PP Radio Grotesk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7568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Transformer la voix du client en accélérateur de croissance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6946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6883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FFD4"/>
                </a:solidFill>
                <a:latin typeface="PP Radio Grotesk"/>
              </a:rPr>
              <a:t>CIBLE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26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PP Radio Grotesk"/>
              </a:rPr>
              <a:t>Décideurs assurance, assistance, banque, automobile
AXA  ·  Generali  ·  Allianz  ·  Covea  ·  Europ Assistance  ·  Renault  ·  Volkswagen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1985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35387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FFD4"/>
                </a:solidFill>
                <a:latin typeface="PP Radio Grotesk"/>
              </a:rPr>
              <a:t>PROMESSE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764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Transformer les données non structurées en décisions actionnables — avant que les problèmes ne deviennent visibles.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024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4050791" cy="51435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P Radio Grotesk"/>
              </a:rPr>
              <a:t>Vous détectez les problèmes avant qu'ils ne deviennent visibles.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84831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BA8"/>
                </a:solidFill>
                <a:latin typeface="PP Radio Grotesk"/>
              </a:rPr>
              <a:t>Des verbatims et signaux faibles aux décisions actionnables — avant que le NPS ne bouge.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1.2 – Différenciateurs 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Ce qui rend Aikoz unique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005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Bruits 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Détection de signaux faibles 6 semaines avant que le NPS bouge.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81912"/>
            <a:ext cx="46177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764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Activation de la donnée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20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Des verbatims à la décision. Pas du reporting.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40864"/>
            <a:ext cx="46177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25237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Agents IA spécialisés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79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Intelligence sectorielle — pas un dashboard générique.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99816"/>
            <a:ext cx="46177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2826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Labels Aikoz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538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Reconnaissance des meilleures agences partenaires.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858768"/>
            <a:ext cx="46177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70FFD4"/>
                </a:solidFill>
                <a:latin typeface="PP Radio Grotes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651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P Radio Grotesk"/>
              </a:rPr>
              <a:t>Voix de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P Radio Grotesk"/>
              </a:rPr>
              <a:t>2.1 – Voix de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We Are / We Are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FFD4"/>
                </a:solidFill>
                <a:latin typeface="PP Radio Grotesk"/>
              </a:rPr>
              <a:t>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3703320" cy="16459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070"/>
                </a:solidFill>
                <a:latin typeface="PP Radio Grotesk"/>
              </a:rPr>
              <a:t>WE ARE NOT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931920" cy="16459"/>
          </a:xfrm>
          <a:prstGeom prst="rect">
            <a:avLst/>
          </a:prstGeom>
          <a:solidFill>
            <a:srgbClr val="3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43584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Direct et tranchant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43584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Vague ou enrobé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00200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645920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Expert qui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45920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Donneur de leçons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02536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048256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Orienté résultats concrets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048256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Théorique ou académique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04872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450592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Terrain et réaliste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450592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Corporate et lisse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07208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852928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Phrases courtes, rythme soutenu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52928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Lourd, dense, long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09544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255264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Accessible aux décideurs non-tech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55264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Jargon IA / data brut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611880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657600"/>
            <a:ext cx="3703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Centré client (« vous obtenez »)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657600"/>
            <a:ext cx="39319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Centré produit (« nous faisons »)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2.2 – Attributs de 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4 primaires (toujours présents)  ·  3 secondaires (selon contexte)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92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FFD4"/>
                </a:solidFill>
                <a:latin typeface="PP Radio Grotesk"/>
              </a:rPr>
              <a:t>PRIMAIRES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16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PP Radio Grotesk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216152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PP Radio Grotesk"/>
              </a:rPr>
              <a:t>Une idée, une phrase. Pas de circonvolutions ni de subordonnées inutiles.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2704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6459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PP Radio Grotesk"/>
              </a:rPr>
              <a:t>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45920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PP Radio Grotesk"/>
              </a:rPr>
              <a:t>La crédibilité vient des insights terrain, pas des titres.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5681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0756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PP Radio Grotesk"/>
              </a:rPr>
              <a:t>Orienté bénéfice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075688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PP Radio Grotesk"/>
              </a:rPr>
              <a:t>Commencer par ce que le lecteur gagne — jamais par ce qu'Aikoz fait.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8658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5054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PP Radio Grotesk"/>
              </a:rPr>
              <a:t>Concret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505456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PP Radio Grotesk"/>
              </a:rPr>
              <a:t>Chiffres réels, secteurs nommés, problèmes identifiables.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1635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8503920" cy="10972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1181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PP Radio Grotesk"/>
              </a:rPr>
              <a:t>SECONDAIRES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3924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PP Radio Grotesk"/>
              </a:rPr>
              <a:t>Rythmé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392424"/>
            <a:ext cx="6629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Phrases courtes alternées avec des formulations percutantes.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8503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78561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PP Radio Grotesk"/>
              </a:rPr>
              <a:t>Confiant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785615"/>
            <a:ext cx="6629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Affirmations — jamais : « permettrait », « pourrait », « peut-être 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7822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41788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PP Radio Grotesk"/>
              </a:rPr>
              <a:t>Humain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178807"/>
            <a:ext cx="6629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Pas de voix robot. Pas de bullet-points froids sans contexte d'amorce.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7141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2.3 – Matrice Ton ×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Adapter la voix selon le canal et l'audience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78408"/>
            <a:ext cx="850392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005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PP Radio Grotesk"/>
              </a:rPr>
              <a:t>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00584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PP Radio Grotesk"/>
              </a:rPr>
              <a:t>Ton dominant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PP Radio Grotesk"/>
              </a:rPr>
              <a:t>Longueur cible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52728"/>
            <a:ext cx="850392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2514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Post 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325880"/>
            <a:ext cx="3337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Direct, narratif terrain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PP Radio Grotesk"/>
              </a:rPr>
              <a:t>150–300 mots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5564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755648"/>
            <a:ext cx="8503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828800"/>
            <a:ext cx="2514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Carrousel LinkedIn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828800"/>
            <a:ext cx="3337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Ultra-synthétique, titres-chocs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PP Radio Grotesk"/>
              </a:rPr>
              <a:t>7–12 slides · 1 idée/slide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25856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258568"/>
            <a:ext cx="850392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2331720"/>
            <a:ext cx="2514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Deck Steerco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331720"/>
            <a:ext cx="3337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Minimaliste, bénéfice en titre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31720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PP Radio Grotesk"/>
              </a:rPr>
              <a:t>1 idée/slide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6148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761488"/>
            <a:ext cx="8503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834640"/>
            <a:ext cx="2514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Email outreach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834640"/>
            <a:ext cx="3337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Contexte → problème →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834640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PP Radio Grotesk"/>
              </a:rPr>
              <a:t>5–8 lignes max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6440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264408"/>
            <a:ext cx="850392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3337560"/>
            <a:ext cx="2514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Landing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337560"/>
            <a:ext cx="3337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Conversion, centré « vous obtenez 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37560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PP Radio Grotesk"/>
              </a:rPr>
              <a:t>Sections courtes + CTA fort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6732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3767328"/>
            <a:ext cx="8503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3840480"/>
            <a:ext cx="2514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Brief interne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840480"/>
            <a:ext cx="3337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P Radio Grotesk"/>
              </a:rPr>
              <a:t>Factuel, structuré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840480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PP Radio Grotesk"/>
              </a:rPr>
              <a:t>Aussi court que possible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27024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70FFD4"/>
                </a:solidFill>
                <a:latin typeface="PP Radio Grotes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651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P Radio Grotesk"/>
              </a:rPr>
              <a:t>Règles d'Écriture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3.1 – À Faire Systématiquement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6 règles non-négociables de la voix Aikoz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87552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PP Radio Grotesk"/>
              </a:rPr>
              <a:t>Commencer par le problème terrain ou une observation concrète — jamais par la présentation d'Aikoz.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6245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PP Radio Grotesk"/>
              </a:rPr>
              <a:t>Écrire « vous détectez » / « vous obtenez » / « vous anticipez » — jamais « notre solution permet de 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029967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29967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PP Radio Grotesk"/>
              </a:rPr>
              <a:t>Verbes d'action : détecter, activer, transformer, anticiper, identifier, accélérer.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0487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551175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51175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PP Radio Grotesk"/>
              </a:rPr>
              <a:t>Phrases courtes — 15 mots maximum en règle générale.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79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3072383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72383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PP Radio Grotesk"/>
              </a:rPr>
              <a:t>Une idée par paragraphe, un message par slide.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47287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593591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FFD4"/>
                </a:solidFill>
                <a:latin typeface="PP Radio Grotesk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93591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PP Radio Grotesk"/>
              </a:rPr>
              <a:t>CTA concret et spécifique — jamais « en savoir plus ».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68495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3.2 – À Éviter Absolument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Ce qui trahit la voix Aikoz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PP Radio Grotesk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87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« Notre solution innovante…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98755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P Radio Grotesk"/>
              </a:rPr>
              <a:t>Se placer avant le client — trahit immédiatement la posture.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6245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PP Radio Grotesk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NPS, reporting,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0876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P Radio Grotesk"/>
              </a:rPr>
              <a:t>Sans différenciation explicite — terrain des concurrents généralistes.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029967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PP Radio Grotesk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2996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Jargon IA non contextualisé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29967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P Radio Grotesk"/>
              </a:rPr>
              <a:t>LLM, embedding, RAG — sauf audience tech confirmée.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0487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551175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PP Radio Grotesk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5117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Conditionnels mous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551175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P Radio Grotesk"/>
              </a:rPr>
              <a:t>« Pourrait », « permettrait », « peut-être », « dans une certaine mesure 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26079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072383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PP Radio Grotesk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7238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Listes sans idée directrice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072383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P Radio Grotesk"/>
              </a:rPr>
              <a:t>Toujours une synthèse en chapeau — jamais de bullet-points orphelins.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47287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593591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PP Radio Grotesk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935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« Aikoz est… » en ouverture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593591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P Radio Grotesk"/>
              </a:rPr>
              <a:t>Préférer systématiquement : « Vous obtenez… 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68495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70FFD4"/>
                </a:solidFill>
                <a:latin typeface="PP Radio Grotes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651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P Radio Grotesk"/>
              </a:rPr>
              <a:t>Terminologie Aikoz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P Radio Grotesk"/>
              </a:rPr>
              <a:t>4.1 – Terminologie de Marque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Les mots qu'Aikoz s'approprie — et ceux qu'elle évite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FFD4"/>
                </a:solidFill>
                <a:latin typeface="PP Radio Grotesk"/>
              </a:rPr>
              <a:t>TERME AIKOZ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3703320" cy="16459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070"/>
                </a:solidFill>
                <a:latin typeface="PP Radio Grotesk"/>
              </a:rPr>
              <a:t>À ÉVITER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931920" cy="16459"/>
          </a:xfrm>
          <a:prstGeom prst="rect">
            <a:avLst/>
          </a:prstGeom>
          <a:solidFill>
            <a:srgbClr val="3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435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Voix du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4358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Feedback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91056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6367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Bruits bas / signaux faibles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367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Données qualitatives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84248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029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Activation de la donnée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0299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Exploitation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77440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423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Insights actionnables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4231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Analyses / rapports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70632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816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Agents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163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Chatbot / IA générique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163824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2095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Churns silencieux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0954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Attrition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557016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6027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FFD8"/>
                </a:solidFill>
                <a:latin typeface="PP Radio Grotesk"/>
              </a:rPr>
              <a:t>Décision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6027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BA8"/>
                </a:solidFill>
                <a:latin typeface="PP Radio Grotesk"/>
              </a:rPr>
              <a:t>ROI / KPI (sans contexte)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50208"/>
            <a:ext cx="8366760" cy="9144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70FFD4"/>
                </a:solidFill>
                <a:latin typeface="PP Radio Grotes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651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PP Radio Grotesk"/>
              </a:rPr>
              <a:t>Formats &amp; Exemples Sectoriels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5.1 – Exemples Sectoriels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Problème terrain → angle Aikoz  ·  3 secteurs cœur de 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651760" cy="32918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4241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P Radio Grotesk"/>
              </a:rPr>
              <a:t>Assurance · Assistance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PP Radio Grotesk"/>
              </a:rPr>
              <a:t>AXA · Generali · Allianz · Covea · Europ Assistance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0FFD4"/>
                </a:solidFill>
                <a:latin typeface="PP Radio Grotesk"/>
              </a:rPr>
              <a:t>PROBLÈME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562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Les churns silencieux surviennent 6 semaines avant que le NPS bouge.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060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5DCE"/>
                </a:solidFill>
                <a:latin typeface="PP Radio Grotesk"/>
              </a:rPr>
              <a:t>ANGLE AIKOZ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346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Détection précoce via verbatims et signaux faibles dans les canaux non structurés.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987552"/>
            <a:ext cx="2651760" cy="32918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04241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P Radio Grotesk"/>
              </a:rPr>
              <a:t>Banque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3533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0FFD4"/>
                </a:solidFill>
                <a:latin typeface="PP Radio Grotesk"/>
              </a:rPr>
              <a:t>PROBLÈME 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58191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L'insatisfaction s'exprime indirectement — rarement dans les sondages, toujours dans les verbatims.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317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5DCE"/>
                </a:solidFill>
                <a:latin typeface="PP Radio Grotesk"/>
              </a:rPr>
              <a:t>ANGLE AIKOZ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60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Écoute des bruits bas dans tous les canaux non structurés.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987552"/>
            <a:ext cx="2651760" cy="32918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199" y="104241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P Radio Grotesk"/>
              </a:rPr>
              <a:t>Automobile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13533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PP Radio Grotesk"/>
              </a:rPr>
              <a:t>Renault · Volkswagen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16276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0FFD4"/>
                </a:solidFill>
                <a:latin typeface="PP Radio Grotesk"/>
              </a:rPr>
              <a:t>PROBLÈME TERRAIN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18562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PP Radio Grotesk"/>
              </a:rPr>
              <a:t>L'expérience SAV dégrade la fidélité plus vite que le produit lui-même.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6060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5DCE"/>
                </a:solidFill>
                <a:latin typeface="PP Radio Grotesk"/>
              </a:rPr>
              <a:t>ANGLE AIKOZ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28346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P Radio Grotesk"/>
              </a:rPr>
              <a:t>Transformation des avis clients en signal d'alerte opérationnel.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PP Radio Grotesk"/>
              </a:rPr>
              <a:t>5.2 – Formats Produits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B9DCE"/>
                </a:solidFill>
                <a:latin typeface="PP Radio Grotesk"/>
              </a:rPr>
              <a:t>Trois structures types pour activer la voix Aikoz au quotidien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633472" cy="32918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4241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P Radio Grotesk"/>
              </a:rPr>
              <a:t>Post 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8988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FFD4"/>
                </a:solidFill>
                <a:latin typeface="PP Radio Grotesk"/>
              </a:rPr>
              <a:t>ACCROCHE — problème terrain ou chiffre choc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7393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883664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CONTEXTE TERRAIN — 2–3 phrases, réalité du décideur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6771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2377440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ANGLE AIKOZ — sans naming trop tôt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6148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287121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3 bénéfices  →  →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5526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3364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CTA — question ouverte ou invitation concrète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49040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63824" y="987552"/>
            <a:ext cx="2633472" cy="32918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55264" y="104241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P Radio Grotesk"/>
              </a:rPr>
              <a:t>Slide de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5264" y="138988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FFD4"/>
                </a:solidFill>
                <a:latin typeface="PP Radio Grotesk"/>
              </a:rPr>
              <a:t>Titre = bénéfice client — jamais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3824" y="177393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55264" y="1883664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✕  « Présentation de la méthodologie 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3824" y="226771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5264" y="2377440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✓  « Vous détectez les churns 3 sem. avant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63824" y="276148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55264" y="287121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1 idée visuelle + 1 message par slide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63824" y="325526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55264" y="3364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Header X.X + sous-titre italic blue-subtitle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63824" y="3749040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07607" y="987552"/>
            <a:ext cx="2633472" cy="32918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99047" y="1042416"/>
            <a:ext cx="2496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P Radio Grotesk"/>
              </a:rPr>
              <a:t>Email Outreach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7" y="138988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FFD4"/>
                </a:solidFill>
                <a:latin typeface="PP Radio Grotesk"/>
              </a:rPr>
              <a:t>Accroche sectorielle — 1 phrase percutante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7607" y="1773936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99047" y="1883664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Contexte → problème → solution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07607" y="2267712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9047" y="2377440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5–8 lignes maximum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07607" y="2761488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99047" y="287121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Proposition de valeur unique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07607" y="3255264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99047" y="3364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PP Radio Grotesk"/>
              </a:rPr>
              <a:t>CTA spécifique et immédiat — jamais « en savoir plus 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07607" y="3749040"/>
            <a:ext cx="850392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4526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  <a:latin typeface="PP Radio Grotesk"/>
              </a:rPr>
              <a:t>Aikoz by Okuden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1040</Words>
  <Application>Microsoft Macintosh PowerPoint</Application>
  <PresentationFormat>Affichage à l'écran (16:9)</PresentationFormat>
  <Paragraphs>214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PP Radio Grotesk</vt:lpstr>
      <vt:lpstr>PP Radio Grotesk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Alice Maréchaud</cp:lastModifiedBy>
  <cp:revision>1</cp:revision>
  <dcterms:created xsi:type="dcterms:W3CDTF">2013-01-27T09:14:16Z</dcterms:created>
  <dcterms:modified xsi:type="dcterms:W3CDTF">2026-06-19T07:39:10Z</dcterms:modified>
  <cp:category/>
</cp:coreProperties>
</file>